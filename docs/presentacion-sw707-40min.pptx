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875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C95"/>
                </a:solidFill>
                <a:latin typeface="Aptos"/>
              </a:rPr>
              <a:t>SW707  /  CONSTRUCCION DE SOFTWARE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ComedorUNI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96012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Aptos"/>
              </a:rPr>
              <a:t>De la cola virtual al recorrido a nivel de codigo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4183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DCE4E9"/>
                </a:solidFill>
                <a:latin typeface="Aptos"/>
              </a:rPr>
              <a:t>Exposicion tecnica de 40 minutos  |  35 min presentacion + 5 min defensa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96012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Franz Joe Inga Champi  ?  Yazid Elio Fernandez Duenas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44768"/>
            <a:ext cx="9418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C8D3DB"/>
                </a:solidFill>
                <a:latin typeface="Aptos"/>
              </a:rPr>
              <a:t>Corte de evidencia: 15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Problema, objetivo y reto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dificultad del producto no es mostrar un número; es asignar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Problema: organizar solicitudes y llamados del comedor sin depender únicamente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1752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Objetivo: registrar turnos y permitir seguimiento del estado.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6616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9300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Reto SW707: unicidad, límite de raciones, concurrencia, dependencias y recuperación.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1480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4164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No hay medición disponible para afirmar cuánto redujo esperas o filas.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Actores y límites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experiencia implementada que vamos a seguir es la del estudiante;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Estudiante: acceso, menú, solicitar turno, ver estado, confirmar o salir.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Administrador: configuración de turnos y menú expuesta en endpoints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Portal Alumnos UNI: sistema externo usado desde un WebView de la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PostgreSQL: datos operativos; Redis: sesiones; RabbitMQ: eventos.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Alcance del cliente actual: app móvil/web para estudiante; no se observó una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Flujo de negocio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pantalla es solo el comienzo: cada paso activa una operación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El estudiante abre el Portal UNI en WebView e inicia sesión allí.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 app lee HTML del portal y envía `/parse-data`.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El backend extrae datos, registra al estudiante y crea sesión `sid` en Redis.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 app solicita foto y envía `/verify-biometric`.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 app obtiene servicio activo y llama `POST /queue/join`.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 app muestra ticket; WebSocket recibe `LLAMADO` o cancelación.</a:t>
            </a:r>
          </a:p>
        </p:txBody>
      </p:sp>
      <p:pic>
        <p:nvPicPr>
          <p:cNvPr id="23" name="Picture 22" descr="Recorrido del flujo con captura del prototipo Figma Make. Mockup sin conexion al backen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Arquitectura que existe en el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arquitectura actual es un monolito modular con infraestructura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Frontend: React Native + Expo Router + TypeScript.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Backend: FastAPI/Uvicorn, routers por módulo y tareas de fondo en el mismo proceso.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PostgreSQL: estudiantes, turnos, configuración y menú.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Redis: sesiones temporales identificadas por `sid`.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RabbitMQ: eventos; consumers M4 (push) y M5 (seguimiento).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Worker de inactividad y WebSockets viven dentro del proceso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Mapa del código: dónde comienza cada 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Para explicar el sistema, saltar desde la app hacia el router,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Inicio FastAPI: `backend/src/main.py`.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Autenticación: `backend/src/modules/auth/`.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Cola: `backend/src/modules/queues/router.py` y `service.py`.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Persistencia SQL: `backend/src/shared/db.py`; esquema 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Frontend: `frontend/src/app/index.tsx`, `home.tsx`, `ticket.tsx`.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Eventos: `shared/rabbitmq.py`, consumers `notifications/` y `tracking/`.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Acceso: Portal, parseo, sesión y biometría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3:00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Los datos del portal y la foto llegan desde el cliente; deben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`index.tsx`: WebView hacia Portal Alumnos, extracción de HTML y POST `/parse-data`.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`auth/router.py::parse_data`: parsea, persiste estudiante y genera `sid`.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`auth/service.py::parse_student_data`: BeautifulSoup extrae perfil y créditos.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`auth/redis_store.py`: sesión por `sid`; no JWT.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`auth/router.py::verify_biometric`: valida sesión/foto y llama a DeepFace.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`biometric.py::compare_faces`: compara imagen de referencia y captura.</a:t>
            </a:r>
          </a:p>
        </p:txBody>
      </p:sp>
      <p:pic>
        <p:nvPicPr>
          <p:cNvPr id="23" name="Picture 22" descr="Identity request payloads, exact API responses, SQL persistence and Redis sessi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Solicitar un turno: estado del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3:00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El frontend protege la interacción de UX; la regla de negocio debe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`home.tsx` carga menú, servicio activo y estado de cola.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`handleJoinQueue` exige usuario y servicio activo antes del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Envía `sid` y `tipo` por `POST /queue/join`.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En éxito actualiza `UserContext` y navega a `/ticket`.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En error muestra `detail`; fallo de red muestra alerta.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Las URL vienen de `EXPO_PUBLIC_API_URL` / `EXPO_PUBLIC_WS_URL`.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Endpoint de cola: precondiciones y errores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3:00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Un contrato sirve para acordar qué tiene que ser cierto antes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`JoinQueueRequest`: `sid` y `tipo`.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`_require_session`: 401 si la sesión es inexistente o expirada.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`/queue/join`: comprueba turno activo, estudiante, turno diario, duplicado y cupo.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`/queue/status`: devuelve estado, posición, turno actual y grupo si fue atendido.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`/queue/confirm`: espera turno activo; cambia y produce efectos laterales.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Los códigos actuales no son perfectamente uniformes: capacidad agotada da 400;</a:t>
            </a:r>
          </a:p>
        </p:txBody>
      </p:sp>
      <p:pic>
        <p:nvPicPr>
          <p:cNvPr id="23" name="Picture 22" descr="Request y response JSON de /queue/join, validaciones y respuestas de erro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Base de datos y carrera de concurrencia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4:00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Existe serialización parcial para numerar, pero el límite de cupos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`raciones_usadas()` hace un COUNT de turnos no cancelados.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El endpoint calcula `restantes` antes de invocar `crear_turno()`.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`crear_turno()` bloquea la fila diaria con `SELECT ... FOR UPDATE`.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La numeración usa `COUNT(*) + 1` excluyendo cancelados y atendidos.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Índice único `(turno_dia_id, numero_turno)` y unicidad parcial por estudiante.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Riesgos: sobrecupo entre transacciones y reutilización de número histórico.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69280"/>
            <a:ext cx="10881360" cy="438912"/>
          </a:xfrm>
          <a:prstGeom prst="roundRect">
            <a:avLst/>
          </a:prstGeom>
          <a:solidFill>
            <a:srgbClr val="FFF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751576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6A1B36"/>
                </a:solidFill>
                <a:latin typeface="Aptos"/>
              </a:rPr>
              <a:t>NO DECLARAR COMO APROBADO: falta prueba de negocio/concurrencia/fallos.</a:t>
            </a:r>
          </a:p>
        </p:txBody>
      </p:sp>
      <p:pic>
        <p:nvPicPr>
          <p:cNvPr id="25" name="Picture 24" descr="Riesgo de carrera: lectura de capacidad previa al bloqueo FOR UPDA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Máquina de estados y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3:30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WebSocket da notificaciones a clientes conectados; la persistencia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Estados observados: `ESPERANDO`, `LLAMADO`, `ATENDIDO`, `CANCELADO`.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Ticket solicita estado inicial y abre `/queue/ws/{sid}`.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`manager` es local al proceso.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Worker se despierta cada 60 s y procesa pings, cancelaciones y siguiente grupo.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`llamar_siguiente` elige grupo según `ceil(raciones_max / 10)`.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WebSocket no es un bus entre varias réplicas.</a:t>
            </a:r>
          </a:p>
        </p:txBody>
      </p:sp>
      <p:pic>
        <p:nvPicPr>
          <p:cNvPr id="23" name="Picture 22" descr="Estados del turno, mensajes WebSocket y actividad periodica del work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Errores, eventos y resiliencia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Hay mecanismos de resiliencia, pero cada uno tiene límites que deben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Reintentos iniciales de consumers: hasta 30 intentos separados 3 s (~90 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Exchange/colas durables y mensajes persistentes en publicación.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Cliente vuelve a conectar sesión WebSocket tras fallo de 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`publish()` captura excepción y solo hace `print`: el request puede continuar.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Consumers capturan excepciones dentro del contexto de procesamiento; revisar ack,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Worker captura excepción amplia; se registra en consola.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69280"/>
            <a:ext cx="10881360" cy="438912"/>
          </a:xfrm>
          <a:prstGeom prst="roundRect">
            <a:avLst/>
          </a:prstGeom>
          <a:solidFill>
            <a:srgbClr val="FFF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751576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6A1B36"/>
                </a:solidFill>
                <a:latin typeface="Aptos"/>
              </a:rPr>
              <a:t>NO DECLARAR COMO APROBADO: falta prueba de negocio/concurrencia/fallos.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Dependencias y problemas de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El lockfile frontend hace reproducible el árbol Node instalado; 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Backend `requirements.txt`: dependencias directas sin versiones exactas ni 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Frontend `package.json`: rangos; `package-lock.json` fija resolución para `npm ci`.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Transitivas observadas: Expo → Metro/config; `expo-router` → runtime/CLI;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Riesgo de runtime 1: Compose publica PostgreSQL `5433:5432`; backend por defecto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Riesgo de runtime 2: DeepFace/OpenCV/TensorFlow pueden aumentar instalación,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Auditoría npm del corte 15/10/2026: 53 alertas (17 moderadas, 35 altas, 1 crítica).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Qué está probado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evidencia de infraestructura y compilación no sustituye pruebas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`compileall`: sintaxis Python sin errores.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260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529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Compose `config -q` y servicios PostgreSQL, Redis, RabbitMQ levantados.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API inició; consumers M4/M5 conectados.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04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`GET /ping`: HTTP 200; `/openapi.json` disponible.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976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245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Frontend: `npx tsc --noEmit`, lint sin errores (13 warnings) y export web 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54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681728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27313B"/>
                </a:solidFill>
                <a:latin typeface="Aptos"/>
              </a:rPr>
              <a:t>No hay tests de cola, contratos, concurrencia o fallos; no hay suite frontend.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69280"/>
            <a:ext cx="10881360" cy="438912"/>
          </a:xfrm>
          <a:prstGeom prst="roundRect">
            <a:avLst/>
          </a:prstGeom>
          <a:solidFill>
            <a:srgbClr val="FFF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751576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6A1B36"/>
                </a:solidFill>
                <a:latin typeface="Aptos"/>
              </a:rPr>
              <a:t>NO DECLARAR COMO APROBADO: falta prueba de negocio/concurrencia/fallos.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Demo de 2 minutos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La demo sirve para confirmar conectividad, no para declarar aprobada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Mostrar diagrama/flujo interactivo de Figma (datos ficticios).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1752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Mostrar comando de salud del backend y respuesta.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6616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9300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Abrir una llamada de frontend y el handler backend correspondiente.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1480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4164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Cerrar con brecha de concurrencia y próximo paso verificable.</a:t>
            </a:r>
          </a:p>
        </p:txBody>
      </p:sp>
      <p:pic>
        <p:nvPicPr>
          <p:cNvPr id="19" name="Picture 18" descr="Captura del mockup y pasos para una demostracion tecnica segur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11183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A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008C95"/>
                </a:solidFill>
                <a:latin typeface="Aptos"/>
              </a:rPr>
              <a:t>COMEDORUNI  /  SW707  /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1F2F3D"/>
                </a:solidFill>
                <a:latin typeface="Aptos Display"/>
              </a:rPr>
              <a:t>Preguntas y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6517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6A1B36"/>
                </a:solidFill>
                <a:latin typeface="Aptos"/>
              </a:rPr>
              <a:t>5:00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6459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9509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5E6B77"/>
                </a:solidFill>
                <a:latin typeface="Aptos"/>
              </a:rPr>
              <a:t>Construccion de Software II  |  Material de exposicion, no evidencia de pruebas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A1B36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0972800" cy="713232"/>
          </a:xfrm>
          <a:prstGeom prst="roundRect">
            <a:avLst/>
          </a:prstGeom>
          <a:solidFill>
            <a:srgbClr val="1F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Contestar con el código y evidencia; nombrar expresamente lo pendiente.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¿La concurrencia ya está resuelta por `FOR UPDATE`?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1752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¿Qué evidencia confirma el funcionamiento?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6616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9300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¿Cómo se autentica? ¿Hay JWT?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14800"/>
            <a:ext cx="91440" cy="9144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41648"/>
            <a:ext cx="10378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27313B"/>
                </a:solidFill>
                <a:latin typeface="Aptos"/>
              </a:rPr>
              <a:t>¿Qué hacen ante caída de RabbitMQ?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